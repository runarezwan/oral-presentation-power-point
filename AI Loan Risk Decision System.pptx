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639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300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620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275" y="28575"/>
            <a:ext cx="4876800" cy="48768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534400" y="323850"/>
            <a:ext cx="3181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Loan Risk Decision System</a:t>
            </a:r>
            <a:endParaRPr lang="en-US" sz="1700" dirty="0"/>
          </a:p>
        </p:txBody>
      </p:sp>
      <p:sp>
        <p:nvSpPr>
          <p:cNvPr id="7" name="Text 1"/>
          <p:cNvSpPr/>
          <p:nvPr/>
        </p:nvSpPr>
        <p:spPr>
          <a:xfrm>
            <a:off x="476250" y="2030909"/>
            <a:ext cx="11239500" cy="301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Loan Risk Decision Intelligence System for Banking CRM</a:t>
            </a:r>
            <a:endParaRPr lang="en-US" sz="6800" dirty="0"/>
          </a:p>
        </p:txBody>
      </p:sp>
      <p:sp>
        <p:nvSpPr>
          <p:cNvPr id="8" name="Text 2"/>
          <p:cNvSpPr/>
          <p:nvPr/>
        </p:nvSpPr>
        <p:spPr>
          <a:xfrm>
            <a:off x="476250" y="6038850"/>
            <a:ext cx="1123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0" y="2619375"/>
            <a:ext cx="8648700" cy="14954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0" y="4400550"/>
            <a:ext cx="8648700" cy="157162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243263" y="1233488"/>
            <a:ext cx="57054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51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0" y="2981325"/>
            <a:ext cx="590550" cy="60007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2105025" y="2995613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highlight>
                  <a:srgbClr val="0048FF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2"/>
          <p:cNvSpPr/>
          <p:nvPr/>
        </p:nvSpPr>
        <p:spPr>
          <a:xfrm>
            <a:off x="2962275" y="3033713"/>
            <a:ext cx="712470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system designed to help bank CRM officers make fast and accurate loan decisions</a:t>
            </a:r>
            <a:endParaRPr lang="en-US" sz="19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0" y="4762500"/>
            <a:ext cx="590550" cy="60007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2105025" y="4776788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highlight>
                  <a:srgbClr val="0048FF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4"/>
          <p:cNvSpPr/>
          <p:nvPr/>
        </p:nvSpPr>
        <p:spPr>
          <a:xfrm>
            <a:off x="2962275" y="4814888"/>
            <a:ext cx="55626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Audience:</a:t>
            </a:r>
            <a:endParaRPr lang="en-US" sz="1900" dirty="0"/>
          </a:p>
        </p:txBody>
      </p:sp>
      <p:sp>
        <p:nvSpPr>
          <p:cNvPr id="13" name="Text 5"/>
          <p:cNvSpPr/>
          <p:nvPr/>
        </p:nvSpPr>
        <p:spPr>
          <a:xfrm>
            <a:off x="2962275" y="5257800"/>
            <a:ext cx="55626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executives, CRM officers, stakeholders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2590800"/>
            <a:ext cx="133350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3248025"/>
            <a:ext cx="133350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3905250"/>
            <a:ext cx="133350" cy="1428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975" y="1733550"/>
            <a:ext cx="3829050" cy="1238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8975" y="3228975"/>
            <a:ext cx="3829050" cy="1238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9975" y="4724400"/>
            <a:ext cx="3829050" cy="12382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105400" y="190500"/>
            <a:ext cx="1981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Loan Risk Decision System</a:t>
            </a:r>
            <a:endParaRPr lang="en-US" sz="1000" dirty="0"/>
          </a:p>
        </p:txBody>
      </p:sp>
      <p:sp>
        <p:nvSpPr>
          <p:cNvPr id="11" name="Text 1"/>
          <p:cNvSpPr/>
          <p:nvPr/>
        </p:nvSpPr>
        <p:spPr>
          <a:xfrm>
            <a:off x="476250" y="985838"/>
            <a:ext cx="5238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Slows Loan Decisions Today</a:t>
            </a:r>
            <a:endParaRPr lang="en-US" sz="3400" dirty="0"/>
          </a:p>
        </p:txBody>
      </p:sp>
      <p:sp>
        <p:nvSpPr>
          <p:cNvPr id="12" name="Text 2"/>
          <p:cNvSpPr/>
          <p:nvPr/>
        </p:nvSpPr>
        <p:spPr>
          <a:xfrm>
            <a:off x="781050" y="2509838"/>
            <a:ext cx="45243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loan approval is slow and manual</a:t>
            </a:r>
            <a:endParaRPr lang="en-US" sz="1700" dirty="0"/>
          </a:p>
        </p:txBody>
      </p:sp>
      <p:sp>
        <p:nvSpPr>
          <p:cNvPr id="13" name="Text 3"/>
          <p:cNvSpPr/>
          <p:nvPr/>
        </p:nvSpPr>
        <p:spPr>
          <a:xfrm>
            <a:off x="781050" y="3167063"/>
            <a:ext cx="42100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calculation of financial ratios:</a:t>
            </a:r>
            <a:endParaRPr lang="en-US" sz="1700" dirty="0"/>
          </a:p>
        </p:txBody>
      </p:sp>
      <p:sp>
        <p:nvSpPr>
          <p:cNvPr id="14" name="Text 4"/>
          <p:cNvSpPr/>
          <p:nvPr/>
        </p:nvSpPr>
        <p:spPr>
          <a:xfrm>
            <a:off x="781050" y="3824288"/>
            <a:ext cx="4838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and credit checks are time-consuming</a:t>
            </a:r>
            <a:endParaRPr lang="en-US" sz="1700" dirty="0"/>
          </a:p>
        </p:txBody>
      </p:sp>
      <p:sp>
        <p:nvSpPr>
          <p:cNvPr id="15" name="Text 5"/>
          <p:cNvSpPr/>
          <p:nvPr/>
        </p:nvSpPr>
        <p:spPr>
          <a:xfrm>
            <a:off x="6972300" y="19573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DBR</a:t>
            </a:r>
            <a:endParaRPr lang="en-US" sz="2200" dirty="0"/>
          </a:p>
        </p:txBody>
      </p:sp>
      <p:sp>
        <p:nvSpPr>
          <p:cNvPr id="16" name="Text 6"/>
          <p:cNvSpPr/>
          <p:nvPr/>
        </p:nvSpPr>
        <p:spPr>
          <a:xfrm>
            <a:off x="6972300" y="2462213"/>
            <a:ext cx="3200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(Debt Burden Ratio)</a:t>
            </a:r>
            <a:endParaRPr lang="en-US" sz="1400" dirty="0"/>
          </a:p>
        </p:txBody>
      </p:sp>
      <p:sp>
        <p:nvSpPr>
          <p:cNvPr id="17" name="Text 7"/>
          <p:cNvSpPr/>
          <p:nvPr/>
        </p:nvSpPr>
        <p:spPr>
          <a:xfrm>
            <a:off x="7353300" y="3452813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</a:t>
            </a:r>
            <a:endParaRPr lang="en-US" sz="2200" dirty="0"/>
          </a:p>
        </p:txBody>
      </p:sp>
      <p:sp>
        <p:nvSpPr>
          <p:cNvPr id="18" name="Text 8"/>
          <p:cNvSpPr/>
          <p:nvPr/>
        </p:nvSpPr>
        <p:spPr>
          <a:xfrm>
            <a:off x="7353300" y="3957638"/>
            <a:ext cx="3200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(Equated Monthly Installment)</a:t>
            </a:r>
            <a:endParaRPr lang="en-US" sz="1400" dirty="0"/>
          </a:p>
        </p:txBody>
      </p:sp>
      <p:sp>
        <p:nvSpPr>
          <p:cNvPr id="19" name="Text 9"/>
          <p:cNvSpPr/>
          <p:nvPr/>
        </p:nvSpPr>
        <p:spPr>
          <a:xfrm>
            <a:off x="7734300" y="494823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LTV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7734300" y="5453063"/>
            <a:ext cx="3200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(Loan-to-Value)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152650"/>
            <a:ext cx="5162550" cy="10572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9225" y="1962150"/>
            <a:ext cx="971550" cy="9810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" y="2809875"/>
            <a:ext cx="76200" cy="76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725" y="2152650"/>
            <a:ext cx="5162550" cy="10572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3371850"/>
            <a:ext cx="5162550" cy="12668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725" y="3371850"/>
            <a:ext cx="5162550" cy="12668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4810125"/>
            <a:ext cx="5162550" cy="1047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1725" y="4810125"/>
            <a:ext cx="5162550" cy="104775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095375" y="2405063"/>
            <a:ext cx="466725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Financial Calculations</a:t>
            </a:r>
            <a:endParaRPr lang="en-US" sz="1500" dirty="0"/>
          </a:p>
        </p:txBody>
      </p:sp>
      <p:sp>
        <p:nvSpPr>
          <p:cNvPr id="13" name="Text 1"/>
          <p:cNvSpPr/>
          <p:nvPr/>
        </p:nvSpPr>
        <p:spPr>
          <a:xfrm>
            <a:off x="1247775" y="2743200"/>
            <a:ext cx="27051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Instantly calculates DBR, EMI, LTV</a:t>
            </a:r>
            <a:endParaRPr lang="en-US" sz="1200" dirty="0"/>
          </a:p>
        </p:txBody>
      </p:sp>
      <p:sp>
        <p:nvSpPr>
          <p:cNvPr id="14" name="Text 2"/>
          <p:cNvSpPr/>
          <p:nvPr/>
        </p:nvSpPr>
        <p:spPr>
          <a:xfrm>
            <a:off x="6477000" y="2405063"/>
            <a:ext cx="46196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Risk Evaluation</a:t>
            </a:r>
            <a:endParaRPr lang="en-US" sz="1500" dirty="0"/>
          </a:p>
        </p:txBody>
      </p:sp>
      <p:sp>
        <p:nvSpPr>
          <p:cNvPr id="15" name="Text 3"/>
          <p:cNvSpPr/>
          <p:nvPr/>
        </p:nvSpPr>
        <p:spPr>
          <a:xfrm>
            <a:off x="6477000" y="2743200"/>
            <a:ext cx="46196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Eligibility decision with risk score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1143000" y="3624263"/>
            <a:ext cx="46196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Interpretation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1143000" y="3962400"/>
            <a:ext cx="4619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reads banking policies and explains decisions in simple language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6477000" y="3624263"/>
            <a:ext cx="46196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Check Simulation</a:t>
            </a:r>
            <a:endParaRPr lang="en-US" sz="1500" dirty="0"/>
          </a:p>
        </p:txBody>
      </p:sp>
      <p:sp>
        <p:nvSpPr>
          <p:cNvPr id="19" name="Text 7"/>
          <p:cNvSpPr/>
          <p:nvPr/>
        </p:nvSpPr>
        <p:spPr>
          <a:xfrm>
            <a:off x="6477000" y="3962400"/>
            <a:ext cx="46196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 credit checks for accurate risk assessment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1143000" y="5057775"/>
            <a:ext cx="46196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Testing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1143000" y="5395913"/>
            <a:ext cx="46196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multiple scenarios for comprehensive analysis</a:t>
            </a:r>
            <a:endParaRPr lang="en-US" sz="1200" dirty="0"/>
          </a:p>
        </p:txBody>
      </p:sp>
      <p:sp>
        <p:nvSpPr>
          <p:cNvPr id="22" name="Text 10"/>
          <p:cNvSpPr/>
          <p:nvPr/>
        </p:nvSpPr>
        <p:spPr>
          <a:xfrm>
            <a:off x="6477000" y="5057775"/>
            <a:ext cx="46196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Report Generation</a:t>
            </a:r>
            <a:endParaRPr lang="en-US" sz="1500" dirty="0"/>
          </a:p>
        </p:txBody>
      </p:sp>
      <p:sp>
        <p:nvSpPr>
          <p:cNvPr id="23" name="Text 11"/>
          <p:cNvSpPr/>
          <p:nvPr/>
        </p:nvSpPr>
        <p:spPr>
          <a:xfrm>
            <a:off x="6477000" y="5395913"/>
            <a:ext cx="46196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1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detailed reports instantly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9734550" y="190500"/>
            <a:ext cx="1981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Loan Risk Decision System</a:t>
            </a:r>
            <a:endParaRPr lang="en-US" sz="1000" dirty="0"/>
          </a:p>
        </p:txBody>
      </p:sp>
      <p:sp>
        <p:nvSpPr>
          <p:cNvPr id="25" name="Text 13"/>
          <p:cNvSpPr/>
          <p:nvPr/>
        </p:nvSpPr>
        <p:spPr>
          <a:xfrm>
            <a:off x="476250" y="652463"/>
            <a:ext cx="112395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2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975" y="1847850"/>
            <a:ext cx="4591050" cy="21240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847850"/>
            <a:ext cx="4591050" cy="21240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975" y="4324350"/>
            <a:ext cx="4591050" cy="21240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4324350"/>
            <a:ext cx="4591050" cy="21240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476250" y="795338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</a:t>
            </a:r>
            <a:endParaRPr lang="en-US" sz="3400" dirty="0"/>
          </a:p>
        </p:txBody>
      </p:sp>
      <p:sp>
        <p:nvSpPr>
          <p:cNvPr id="9" name="Text 1"/>
          <p:cNvSpPr/>
          <p:nvPr/>
        </p:nvSpPr>
        <p:spPr>
          <a:xfrm>
            <a:off x="2305050" y="2624138"/>
            <a:ext cx="2628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decisions</a:t>
            </a:r>
            <a:endParaRPr lang="en-US" sz="2800" dirty="0"/>
          </a:p>
        </p:txBody>
      </p:sp>
      <p:sp>
        <p:nvSpPr>
          <p:cNvPr id="10" name="Text 2"/>
          <p:cNvSpPr/>
          <p:nvPr/>
        </p:nvSpPr>
        <p:spPr>
          <a:xfrm>
            <a:off x="7696200" y="2624138"/>
            <a:ext cx="1752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</a:t>
            </a:r>
            <a:endParaRPr lang="en-US" sz="2800" dirty="0"/>
          </a:p>
        </p:txBody>
      </p:sp>
      <p:sp>
        <p:nvSpPr>
          <p:cNvPr id="11" name="Text 3"/>
          <p:cNvSpPr/>
          <p:nvPr/>
        </p:nvSpPr>
        <p:spPr>
          <a:xfrm>
            <a:off x="2343150" y="5100638"/>
            <a:ext cx="2552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Transparency</a:t>
            </a:r>
            <a:endParaRPr lang="en-US" sz="2800" dirty="0"/>
          </a:p>
        </p:txBody>
      </p:sp>
      <p:sp>
        <p:nvSpPr>
          <p:cNvPr id="12" name="Text 4"/>
          <p:cNvSpPr/>
          <p:nvPr/>
        </p:nvSpPr>
        <p:spPr>
          <a:xfrm>
            <a:off x="7662863" y="5100638"/>
            <a:ext cx="18192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Efficiency</a:t>
            </a:r>
            <a:endParaRPr lang="en-US" sz="2800" dirty="0"/>
          </a:p>
        </p:txBody>
      </p:sp>
      <p:sp>
        <p:nvSpPr>
          <p:cNvPr id="13" name="Text 5"/>
          <p:cNvSpPr/>
          <p:nvPr/>
        </p:nvSpPr>
        <p:spPr>
          <a:xfrm>
            <a:off x="476250" y="190500"/>
            <a:ext cx="240506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Loan Risk Decision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" y="4143375"/>
            <a:ext cx="1030605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7375" y="3533775"/>
            <a:ext cx="47625" cy="1238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3276600"/>
            <a:ext cx="47625" cy="1238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7125" y="3533775"/>
            <a:ext cx="47625" cy="1238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3276600"/>
            <a:ext cx="47625" cy="1238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475" y="2800350"/>
            <a:ext cx="1495425" cy="15049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143000" y="2812256"/>
            <a:ext cx="147637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FFFFF"/>
                </a:solidFill>
                <a:highlight>
                  <a:srgbClr val="0048FF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step. 1</a:t>
            </a:r>
            <a:endParaRPr lang="en-US" sz="2500" dirty="0"/>
          </a:p>
        </p:txBody>
      </p:sp>
      <p:sp>
        <p:nvSpPr>
          <p:cNvPr id="11" name="Text 1"/>
          <p:cNvSpPr/>
          <p:nvPr/>
        </p:nvSpPr>
        <p:spPr>
          <a:xfrm>
            <a:off x="881063" y="5074444"/>
            <a:ext cx="2000250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customer financial data</a:t>
            </a:r>
            <a:endParaRPr lang="en-US" sz="1200" dirty="0"/>
          </a:p>
        </p:txBody>
      </p:sp>
      <p:sp>
        <p:nvSpPr>
          <p:cNvPr id="12" name="Text 2"/>
          <p:cNvSpPr/>
          <p:nvPr/>
        </p:nvSpPr>
        <p:spPr>
          <a:xfrm>
            <a:off x="3690937" y="2533352"/>
            <a:ext cx="2000250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calculates DBR, EMI, LTV</a:t>
            </a:r>
            <a:endParaRPr lang="en-US" sz="1200" dirty="0"/>
          </a:p>
        </p:txBody>
      </p:sp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3350" y="3752850"/>
            <a:ext cx="1495425" cy="150495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3952875" y="3764756"/>
            <a:ext cx="147637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FFFFF"/>
                </a:solidFill>
                <a:highlight>
                  <a:srgbClr val="0048FF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step. 2</a:t>
            </a:r>
            <a:endParaRPr lang="en-US" sz="2500" dirty="0"/>
          </a:p>
        </p:txBody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3225" y="2800350"/>
            <a:ext cx="1495425" cy="1504950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6762750" y="2812256"/>
            <a:ext cx="147637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FFFFF"/>
                </a:solidFill>
                <a:highlight>
                  <a:srgbClr val="0048FF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step. 3</a:t>
            </a:r>
            <a:endParaRPr lang="en-US" sz="2500" dirty="0"/>
          </a:p>
        </p:txBody>
      </p:sp>
      <p:sp>
        <p:nvSpPr>
          <p:cNvPr id="17" name="Text 5"/>
          <p:cNvSpPr/>
          <p:nvPr/>
        </p:nvSpPr>
        <p:spPr>
          <a:xfrm>
            <a:off x="6500813" y="5074444"/>
            <a:ext cx="2000250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evaluates risk &amp; eligibility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9310688" y="2533352"/>
            <a:ext cx="2000250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shows instant decision</a:t>
            </a:r>
            <a:endParaRPr lang="en-US" sz="120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3100" y="3752850"/>
            <a:ext cx="1495425" cy="150495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9572625" y="3764756"/>
            <a:ext cx="147637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FFFFF"/>
                </a:solidFill>
                <a:highlight>
                  <a:srgbClr val="0048FF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step. 4</a:t>
            </a:r>
            <a:endParaRPr lang="en-US" sz="2500" dirty="0"/>
          </a:p>
        </p:txBody>
      </p:sp>
      <p:sp>
        <p:nvSpPr>
          <p:cNvPr id="21" name="Text 8"/>
          <p:cNvSpPr/>
          <p:nvPr/>
        </p:nvSpPr>
        <p:spPr>
          <a:xfrm>
            <a:off x="9734550" y="190500"/>
            <a:ext cx="1981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Loan Risk Decision System</a:t>
            </a:r>
            <a:endParaRPr lang="en-US" sz="1000" dirty="0"/>
          </a:p>
        </p:txBody>
      </p:sp>
      <p:sp>
        <p:nvSpPr>
          <p:cNvPr id="22" name="Text 9"/>
          <p:cNvSpPr/>
          <p:nvPr/>
        </p:nvSpPr>
        <p:spPr>
          <a:xfrm>
            <a:off x="476250" y="700088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13" y="1733549"/>
            <a:ext cx="3514725" cy="38385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1325" y="1276350"/>
            <a:ext cx="1457325" cy="14573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3875" y="1733550"/>
            <a:ext cx="3524250" cy="38385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6675" y="4572000"/>
            <a:ext cx="1457325" cy="14573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700" y="1733548"/>
            <a:ext cx="3514725" cy="38385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5350" y="2895600"/>
            <a:ext cx="104775" cy="1047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5350" y="3362325"/>
            <a:ext cx="104775" cy="1047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5350" y="3819525"/>
            <a:ext cx="104775" cy="104775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105400" y="190500"/>
            <a:ext cx="1981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Loan Risk Decision System</a:t>
            </a:r>
            <a:endParaRPr lang="en-US" sz="1000" dirty="0"/>
          </a:p>
        </p:txBody>
      </p:sp>
      <p:sp>
        <p:nvSpPr>
          <p:cNvPr id="20" name="Text 1"/>
          <p:cNvSpPr/>
          <p:nvPr/>
        </p:nvSpPr>
        <p:spPr>
          <a:xfrm>
            <a:off x="476250" y="795338"/>
            <a:ext cx="1123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21" name="Text 2"/>
          <p:cNvSpPr/>
          <p:nvPr/>
        </p:nvSpPr>
        <p:spPr>
          <a:xfrm>
            <a:off x="781050" y="2147888"/>
            <a:ext cx="2882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2200" dirty="0"/>
          </a:p>
        </p:txBody>
      </p:sp>
      <p:sp>
        <p:nvSpPr>
          <p:cNvPr id="22" name="Text 3"/>
          <p:cNvSpPr/>
          <p:nvPr/>
        </p:nvSpPr>
        <p:spPr>
          <a:xfrm>
            <a:off x="971550" y="2824163"/>
            <a:ext cx="695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Text 6"/>
          <p:cNvSpPr/>
          <p:nvPr/>
        </p:nvSpPr>
        <p:spPr>
          <a:xfrm>
            <a:off x="4654451" y="2147888"/>
            <a:ext cx="2882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2200" dirty="0"/>
          </a:p>
        </p:txBody>
      </p:sp>
      <p:sp>
        <p:nvSpPr>
          <p:cNvPr id="29" name="Text 10"/>
          <p:cNvSpPr/>
          <p:nvPr/>
        </p:nvSpPr>
        <p:spPr>
          <a:xfrm>
            <a:off x="8528000" y="1902266"/>
            <a:ext cx="2882801" cy="457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Data</a:t>
            </a:r>
            <a:endParaRPr lang="en-US" sz="2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2D30D5-5D1C-7E80-0C1E-3DAED12D4910}"/>
              </a:ext>
            </a:extLst>
          </p:cNvPr>
          <p:cNvSpPr txBox="1"/>
          <p:nvPr/>
        </p:nvSpPr>
        <p:spPr>
          <a:xfrm>
            <a:off x="674077" y="2438340"/>
            <a:ext cx="310422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Next.js :</a:t>
            </a:r>
            <a:r>
              <a:rPr lang="en-US" dirty="0"/>
              <a:t> Lightning-fast, modern web framework.</a:t>
            </a:r>
          </a:p>
          <a:p>
            <a:r>
              <a:rPr lang="en-US" b="1" dirty="0"/>
              <a:t>Tailwind CSS &amp; Framer Motion:</a:t>
            </a:r>
            <a:r>
              <a:rPr lang="en-US" dirty="0"/>
              <a:t> Sleek, dark-mode design with smooth micro-animations.</a:t>
            </a:r>
          </a:p>
          <a:p>
            <a:r>
              <a:rPr lang="en-US" b="1" dirty="0"/>
              <a:t>Plotly:</a:t>
            </a:r>
            <a:r>
              <a:rPr lang="en-US" dirty="0"/>
              <a:t> Interactive, real-time financial data visualizations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9D6D7F-4C45-76BB-5042-1C14B8115176}"/>
              </a:ext>
            </a:extLst>
          </p:cNvPr>
          <p:cNvSpPr txBox="1"/>
          <p:nvPr/>
        </p:nvSpPr>
        <p:spPr>
          <a:xfrm>
            <a:off x="4509588" y="2826848"/>
            <a:ext cx="31316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FastAPI</a:t>
            </a:r>
            <a:r>
              <a:rPr lang="en-US" b="1" dirty="0"/>
              <a:t> (Python):</a:t>
            </a:r>
            <a:r>
              <a:rPr lang="en-US" dirty="0"/>
              <a:t> High-performance, asynchronous backend.</a:t>
            </a:r>
          </a:p>
          <a:p>
            <a:r>
              <a:rPr lang="en-US" b="1" dirty="0"/>
              <a:t>Firebase </a:t>
            </a:r>
            <a:r>
              <a:rPr lang="en-US" b="1" dirty="0" err="1"/>
              <a:t>Firestore</a:t>
            </a:r>
            <a:r>
              <a:rPr lang="en-US" b="1" dirty="0"/>
              <a:t>:</a:t>
            </a:r>
            <a:r>
              <a:rPr lang="en-US" dirty="0"/>
              <a:t> Real-time, cloud-native NoSQL database.</a:t>
            </a:r>
          </a:p>
          <a:p>
            <a:r>
              <a:rPr lang="en-US" b="1" dirty="0"/>
              <a:t>Scalable Architecture:</a:t>
            </a:r>
            <a:r>
              <a:rPr lang="en-US" dirty="0"/>
              <a:t> Fast, secure, and ready for production deployment.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47454B-4436-A336-3F73-1B75FE36D5FF}"/>
              </a:ext>
            </a:extLst>
          </p:cNvPr>
          <p:cNvSpPr txBox="1"/>
          <p:nvPr/>
        </p:nvSpPr>
        <p:spPr>
          <a:xfrm>
            <a:off x="8444286" y="2360173"/>
            <a:ext cx="307363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Google Gemini 1.5 :</a:t>
            </a:r>
            <a:r>
              <a:rPr lang="en-US" dirty="0"/>
              <a:t>  Advanced processing for sophisticated credit reasoning.</a:t>
            </a:r>
          </a:p>
          <a:p>
            <a:r>
              <a:rPr lang="en-US" b="1" dirty="0">
                <a:effectLst/>
              </a:rPr>
              <a:t>RAG Architecture:</a:t>
            </a:r>
            <a:r>
              <a:rPr lang="en-US" dirty="0">
                <a:effectLst/>
              </a:rPr>
              <a:t> Grounded in CRM manuals for 100% policy-accurate advice.</a:t>
            </a:r>
          </a:p>
          <a:p>
            <a:r>
              <a:rPr lang="en-US" b="1" dirty="0">
                <a:effectLst/>
              </a:rPr>
              <a:t>AI Vision (OCR):</a:t>
            </a:r>
            <a:r>
              <a:rPr lang="en-US" dirty="0">
                <a:effectLst/>
              </a:rPr>
              <a:t> Instant identity verification directly from document uploads.</a:t>
            </a:r>
          </a:p>
          <a:p>
            <a:pPr>
              <a:buNone/>
            </a:pPr>
            <a:br>
              <a:rPr lang="en-US" dirty="0">
                <a:effectLst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3800475"/>
            <a:ext cx="3638550" cy="3057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725" y="3667125"/>
            <a:ext cx="2876550" cy="571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105400" y="190500"/>
            <a:ext cx="1981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Loan Risk Decision System</a:t>
            </a:r>
            <a:endParaRPr lang="en-US" sz="1000" dirty="0"/>
          </a:p>
        </p:txBody>
      </p:sp>
      <p:sp>
        <p:nvSpPr>
          <p:cNvPr id="7" name="Text 1"/>
          <p:cNvSpPr/>
          <p:nvPr/>
        </p:nvSpPr>
        <p:spPr>
          <a:xfrm>
            <a:off x="3186113" y="2155031"/>
            <a:ext cx="5819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8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328</Words>
  <Application>Microsoft Office PowerPoint</Application>
  <PresentationFormat>Widescreen</PresentationFormat>
  <Paragraphs>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Akter Runa</cp:lastModifiedBy>
  <cp:revision>5</cp:revision>
  <dcterms:created xsi:type="dcterms:W3CDTF">2026-04-20T18:58:50Z</dcterms:created>
  <dcterms:modified xsi:type="dcterms:W3CDTF">2026-04-22T07:56:14Z</dcterms:modified>
</cp:coreProperties>
</file>